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4389120" y="0"/>
            <a:ext cx="731520" cy="5143500"/>
          </a:xfrm>
          <a:prstGeom prst="rect">
            <a:avLst/>
          </a:prstGeom>
          <a:solidFill>
            <a:srgbClr val="10243F">
              <a:alpha val="70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9202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4632"/>
            <a:ext cx="1737360" cy="2441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Door-to-Door delivery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9748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9748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060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0060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online shopping click-to-deliver platform plus a decentralised last-mile network turns 74+ branches into on-demand fulfilment nodes.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20840" y="1645920"/>
            <a:ext cx="2011680" cy="2880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45920"/>
            <a:ext cx="2011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4708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76479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Shopper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47188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61404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1480" y="283464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03580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29535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door delivery engine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Diaspora shopper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24576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 tracking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51453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57139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bike courier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06282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branch such as Borrowdale or Kamfinsa to collect heavy hampers.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expands the addressable market to sponsors who want absolute confirmation that food arrived safely.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Multi-cart, multi-currency: the moat competitors can’t copy quickly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diaspora sender runs several carts at once — mother in Bulawayo, sister in Gweru, a school tuck order — each with its own recipient, address and delivery slot.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90872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3752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Multi-currency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873752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GBP, USD, ZAR or EUR; settle in-country. FX is handled inside the platform, so the sender never touches a parallel-market 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Sender control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chooses the goods, not the cash. Money lands as groceries at a door, with proof of delivery back to the sender.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90872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73752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3752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defends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873752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 apps move money and stop. Retailers sell locally and stop. Owning both sides of that handover is what nobody else in the market has assembled.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 platform)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platform — 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Transaction-based fees, subscription or discounts, allowing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intelligence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48840" y="29260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70916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door-to-door retail pipeline for the local and diaspora ecosystem.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Consolidating diaspora remittances and cross-border shopping into a US$61.2M pipeline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GROSS BASKET SPEND (GMV)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212080" y="3246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 (capturing ~28% direct ecosystem revenue in Phase 1).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120640" y="896112"/>
            <a:ext cx="3611880" cy="329184"/>
          </a:xfrm>
          <a:prstGeom prst="roundRect">
            <a:avLst>
              <a:gd name="adj" fmla="val 50000"/>
            </a:avLst>
          </a:prstGeom>
          <a:solidFill>
            <a:srgbClr val="FBE3E8"/>
          </a:solidFill>
          <a:ln w="12700">
            <a:solidFill>
              <a:srgbClr val="FBE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Value: ~28% take-rate on US$61.2M GMV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ECOSYSTEM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margin &amp; platform fees captured on US$61.2M GMV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ARCHITECTURE · GMV VS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Distinction: GMV vs. Ecosystem Revenue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217920" y="89611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0" y="89611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Breakdown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7C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FLOW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607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Merchandise Value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7607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7607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GROCERY BASKET SPEND THROUGHPUT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7607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diaspora shoppers × 1.5 orders/mo × US$85 avg basket × 12 months. This is the total cash transacted at checkout.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migrated spend currently captured by South African cash-and-carries and informal Malayitsha vans.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24612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6D3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 (~28%)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41071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Ecosystem Revenue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1071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41071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CAPTURED EARNINGS ON $61.2M GMV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41071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value captured on that basket volume across 5 stacked streams: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8328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4728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21% Retail Margin (US$12.85M)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3% Card Surcharge (US$1.84M)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Last-Mile Delivery Share (US$1.08M)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Retail Media Network (US$734k)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Diaspora Priority Memberships (US$647k)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08076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0F4FA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4535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4535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STEADY STATE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24535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Ecosystem Revenue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624535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24535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CAPTURE + B2B/B2C SUBSCRIPTIONS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624535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Retail Capture ($17.15M) + Phase 2 Recurring Subscription Layer ($4.69M):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1792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240 Tenant Software Licences ($717k)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Scooter Rider Fleet Plans ($486k)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Garage &amp; Maintenance Plans ($194k)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 Market Data Licences ($720k)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45,000 Shopper Memberships ($2.15M)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3,500 Tuck-Shop Apps ($420k)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9164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 (Reseller)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from TM PnP at a negotiated wholesale discount and fulfill with our own driver network.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264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264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US$100,000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2316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0916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032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8932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Software Licensing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1032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1032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91032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US$75,000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2084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2084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1.5–2% GMV revenue share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37033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03320"/>
            <a:ext cx="832104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1 · Independent Concierge (Reseller)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2 · White-Label Software Licensing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 (Turnkey operator)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 &amp; owner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364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intelligence driven model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3752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73752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73752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73752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3752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73752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4924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252374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49240" y="34107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4924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49240" y="407822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436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4612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342900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8076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26364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26364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06624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18888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31152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4632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4632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4632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SUBSCRIPTION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model. The rest is not sustainable.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2900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2900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6364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26364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revenue: one-off fees fund a project, recurring fees fund a company.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ECOSYSTEM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ecosystem: US$21,841,380 a year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389120" y="896112"/>
            <a:ext cx="4343400" cy="329184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8961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US$61.2M Baseline GMV ($17.15M Phase 1) + US$4.69M Services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160020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190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154680" y="19933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" y="2542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154680" y="239572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94360" y="2779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4360" y="29443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154680" y="27980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" y="3182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" y="33467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15468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943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154680" y="36027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4360" y="4023360"/>
            <a:ext cx="384048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743200" y="40782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754880" y="16002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7190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SUBSCRIPTION LAYER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937760" y="195681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37760" y="210312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tenants @ US$249 pm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223760" y="1975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US$717,120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22951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937760" y="244144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riders @ US$45 pm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223760" y="2313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US$486,000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37760" y="26334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937760" y="27797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units @ US$18 pm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223760" y="26517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US$194,400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937760" y="29718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937760" y="311810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licences @ US$1,500 pm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7223760" y="2990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US$720,000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937760" y="33101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937760" y="345643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households @ US$3.99 pm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223760" y="33284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US$2,154,600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937760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Tuck-shop trading app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4937760" y="379476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 shops @ US$9.99 pm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7223760" y="366674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US$419,580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937760" y="4023360"/>
            <a:ext cx="3611880" cy="9144"/>
          </a:xfrm>
          <a:prstGeom prst="rect">
            <a:avLst/>
          </a:prstGeom>
          <a:solidFill>
            <a:srgbClr val="335C94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9377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subtotal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040880" y="407822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US$4,691,700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411480" y="452628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85800" y="4526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ecosystem revenue at steady state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1722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MIX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US$17.1M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Door-to-door on TMPNP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 — 4% of revenue.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+US$1.4M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fees (US$717,120), rider plans (US$486,000) and garage cover (US$194,400) start billing monthly, whatever the basket does.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 · US$21.8M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plans, tuck-shop apps and data licences add US$3.29M. Recurring revenue reaches US$5,338,980 — 24% of the ecosystem.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4632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594360"/>
            <a:ext cx="128016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74+ branches into a door-to-door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2026-08-19T16:33:30Z</dcterms:created>
  <dcterms:modified xsi:type="dcterms:W3CDTF">2026-08-19T16:33:30Z</dcterms:modified>
</cp:coreProperties>
</file>