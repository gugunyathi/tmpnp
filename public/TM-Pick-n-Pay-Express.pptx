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0"/>
            <a:ext cx="475488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rgbClr val="10243F"/>
          </a:solidFill>
          <a:ln/>
        </p:spPr>
      </p:sp>
      <p:sp>
        <p:nvSpPr>
          <p:cNvPr id="4" name="Shape 1"/>
          <p:cNvSpPr/>
          <p:nvPr/>
        </p:nvSpPr>
        <p:spPr>
          <a:xfrm>
            <a:off x="4389120" y="0"/>
            <a:ext cx="731520" cy="5143500"/>
          </a:xfrm>
          <a:prstGeom prst="rect">
            <a:avLst/>
          </a:prstGeom>
          <a:solidFill>
            <a:srgbClr val="10243F">
              <a:alpha val="70000"/>
            </a:srgbClr>
          </a:solidFill>
          <a:ln w="12700">
            <a:solidFill>
              <a:srgbClr val="1024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11480" y="411480"/>
            <a:ext cx="19202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84632"/>
            <a:ext cx="1737360" cy="24414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11480" y="1463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BOARD PROPOSAL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411480" y="1828800"/>
            <a:ext cx="4297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TM Pick n Pay Express</a:t>
            </a:r>
            <a:endParaRPr lang="en-US" sz="3300" dirty="0"/>
          </a:p>
        </p:txBody>
      </p:sp>
      <p:sp>
        <p:nvSpPr>
          <p:cNvPr id="9" name="Text 5"/>
          <p:cNvSpPr/>
          <p:nvPr/>
        </p:nvSpPr>
        <p:spPr>
          <a:xfrm>
            <a:off x="411480" y="260604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Evolving Click &amp; Collect into Door-to-Door delivery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411480" y="3429000"/>
            <a:ext cx="1097280" cy="7315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11480" y="374904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the Executive Board · TM Pick n Pay Zimbabwe &amp; Meikles Limited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01 · THE OPPORTUNITY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Monetising the digital infrastructure you already own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45920"/>
            <a:ext cx="1965960" cy="28803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1810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" y="19202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foundation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94360" y="2432304"/>
            <a:ext cx="160020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tmpnponline.co.zw and the dedicated app are already live, running localized Click &amp; Collect across the estate.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514600" y="1645920"/>
            <a:ext cx="1965960" cy="28803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97480" y="1810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697480" y="19202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optimization gap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2697480" y="2432304"/>
            <a:ext cx="160020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demands transport, fuel and time. Diaspora buyers still pay Malayitsha vans purely for doorstep convenience.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617720" y="1645920"/>
            <a:ext cx="1965960" cy="28803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800600" y="1810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00600" y="19202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value proposition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800600" y="2432304"/>
            <a:ext cx="160020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online shopping click-to-deliver platform plus a decentralised last-mile network turns 74+ branches into on-demand fulfilment nodes.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720840" y="1645920"/>
            <a:ext cx="2011680" cy="28803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645920"/>
            <a:ext cx="201168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02 · STATUS QUO VS EVOLUTION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Bypassing physical logistics friction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45920"/>
            <a:ext cx="8321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847088"/>
            <a:ext cx="146304" cy="146304"/>
          </a:xfrm>
          <a:prstGeom prst="ellipse">
            <a:avLst/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176479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Current system — Click &amp; Collect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40080" y="219456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219456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Shopper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647188" y="219456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647188" y="219456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app order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654296" y="219456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54296" y="219456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Recipient must travel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661404" y="219456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661404" y="219456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branches only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11480" y="2834640"/>
            <a:ext cx="8321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0080" y="3035808"/>
            <a:ext cx="146304" cy="14630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68680" y="295351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evolution — On-demand door delivery engine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40080" y="338328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338328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&amp; Diaspora shopper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2245766" y="338328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245766" y="338328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ad tracking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3851453" y="338328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851453" y="338328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US$ gateway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57139" y="338328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457139" y="338328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bike courier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7062826" y="338328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062826" y="338328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Recipient's door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411480" y="4069080"/>
            <a:ext cx="4069080" cy="594360"/>
          </a:xfrm>
          <a:prstGeom prst="roundRect">
            <a:avLst>
              <a:gd name="adj" fmla="val 12308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4360" y="4069080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and elderly recipients cannot easily reach a flagship branch such as Borrowdale or Kamfinsa to collect heavy hampers.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663440" y="4069080"/>
            <a:ext cx="4069080" cy="594360"/>
          </a:xfrm>
          <a:prstGeom prst="roundRect">
            <a:avLst>
              <a:gd name="adj" fmla="val 12308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846320" y="4069080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Door-to-door fulfilment expands the addressable market to sponsors who want absolute confirmation that food arrived safely.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Multi-cart, multi-currency: the moat competitors can’t copy quickly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45920"/>
            <a:ext cx="4041648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1810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" y="1920240"/>
            <a:ext cx="3675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Multi-cart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594360" y="2322576"/>
            <a:ext cx="36758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diaspora sender runs several carts at once — mother in Bulawayo, sister in Gweru, a school tuck order — each with its own recipient, address and delivery slot.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690872" y="1645920"/>
            <a:ext cx="4041648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873752" y="1810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873752" y="1920240"/>
            <a:ext cx="3675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Multi-currency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873752" y="2322576"/>
            <a:ext cx="36758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in GBP, USD, ZAR or EUR; settle in-country. FX is handled inside the platform, so the sender never touches a parallel-market rate.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11480" y="3017520"/>
            <a:ext cx="4041648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360" y="31821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3291840"/>
            <a:ext cx="3675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Sender control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94360" y="3694176"/>
            <a:ext cx="36758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payer chooses the goods, not the cash. Money lands as groceries at a door, with proof of delivery back to the sender.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690872" y="3017520"/>
            <a:ext cx="4041648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873752" y="31821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873752" y="3291840"/>
            <a:ext cx="3675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it defends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4873752" y="3694176"/>
            <a:ext cx="36758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Remittance apps move money and stop. Retailers sell locally and stop. Owning both sides of that handover is what nobody else in the market has assembled.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09 · VALUE PROPOSITION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platform uniquely delivers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White-label solution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94360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customizable platform retailers brand as their own, with flexible commercial models — subscription or commission-based.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642616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25496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825496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Time-to-market advantage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825496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existing integrations (API, SIM switch, payments platform) to launch quickly and capture customers before competitors.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873752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056632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56632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Robust and secure platform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056632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reliable, scalable and secure system compared to informal, unregulated channels.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7104888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287768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287768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Bank-agnostic integration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287768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 across multiple banks, expanding reach and customer access.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11480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94360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94360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 mass creation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94360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a platform — support in building user adoption through partnerships with banks and diaspora communities.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2642616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825496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825496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 commercial model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2825496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Transaction-based fees, subscription or discounts, allowing flexibility for different business strategies.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873752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056632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056632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Adaptability to market dynamics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5056632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and intelligence to adjust pricing, packaging and delivery models as consumer behaviour shifts.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7104888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287768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287768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Direct-to-Consumer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7287768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beyond brick-and-mortar retail into a direct relationship with the shopper.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A50C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0"/>
            <a:ext cx="402336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303520" cy="5143500"/>
          </a:xfrm>
          <a:prstGeom prst="rect">
            <a:avLst/>
          </a:prstGeom>
          <a:solidFill>
            <a:srgbClr val="A50C2D"/>
          </a:solidFill>
          <a:ln/>
        </p:spPr>
      </p:sp>
      <p:sp>
        <p:nvSpPr>
          <p:cNvPr id="4" name="Shape 1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148840" y="292608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08 · FIRST-MOVER ADVANTAGE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470916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defensive moat against OK Zimbabwe &amp; Choppies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411480" y="1783080"/>
            <a:ext cx="4663440" cy="1234440"/>
          </a:xfrm>
          <a:prstGeom prst="roundRect">
            <a:avLst>
              <a:gd name="adj" fmla="val 5926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21792" y="1947672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leadership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621792" y="2313432"/>
            <a:ext cx="4251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competitors stay focused on brick-and-mortar or basic localized delivery, TM PnP becomes the definitive door-to-door retail pipeline for the local and diaspora ecosystem.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11480" y="3154680"/>
            <a:ext cx="4663440" cy="1234440"/>
          </a:xfrm>
          <a:prstGeom prst="roundRect">
            <a:avLst>
              <a:gd name="adj" fmla="val 5926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21792" y="3319272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Maximising group assets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21792" y="3685032"/>
            <a:ext cx="4251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desks convert into high-volume dispatch stations, lifting stock turnover speed across all primary product lines.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03 · P&amp;L ASSUMPTIONS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Consolidating diaspora remittances and cross-border shopping into a US$61.2M pipeline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40,000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594360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diaspora customers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523744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706624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1.5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2706624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per month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636008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18888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US$85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4818888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basket size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48272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931152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6931152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11480" y="3063240"/>
            <a:ext cx="8321040" cy="1371600"/>
          </a:xfrm>
          <a:prstGeom prst="roundRect">
            <a:avLst>
              <a:gd name="adj" fmla="val 6667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" y="3246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C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GROSS BASKET SPEND (GMV)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77240" y="35204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US$61,200,000</a:t>
            </a:r>
            <a:endParaRPr lang="en-US" sz="3600" dirty="0"/>
          </a:p>
        </p:txBody>
      </p:sp>
      <p:sp>
        <p:nvSpPr>
          <p:cNvPr id="24" name="Text 21"/>
          <p:cNvSpPr/>
          <p:nvPr/>
        </p:nvSpPr>
        <p:spPr>
          <a:xfrm>
            <a:off x="5212080" y="32461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40,000 customers × 1.5 orders × US$85 × 12 months — migrated from cash remittances and Malayitsha vans into a tracked US$ retail pipeline (capturing ~28% direct ecosystem revenue in Phase 1).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03 · FIVE REVENUE STREAMS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stacked revenue streams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120640" y="896112"/>
            <a:ext cx="3611880" cy="329184"/>
          </a:xfrm>
          <a:prstGeom prst="roundRect">
            <a:avLst>
              <a:gd name="adj" fmla="val 50000"/>
            </a:avLst>
          </a:prstGeom>
          <a:solidFill>
            <a:srgbClr val="FBE3E8"/>
          </a:solidFill>
          <a:ln w="12700">
            <a:solidFill>
              <a:srgbClr val="FBE3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120640" y="896112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Value: ~28% take-rate on US$61.2M GMV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11480" y="17830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1920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Retail product margins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94360" y="22219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captured on goods otherwise bought in South African cash-and-carries. 21% gross margin.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94360" y="2697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US$12,852,000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3246120" y="17830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29000" y="1920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Last-mile delivery share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429000" y="22219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US$4.50 fee within 10km; the platform retains US$1.50 net per drop.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3429000" y="2697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US$1,080,000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080760" y="17830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63640" y="1920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Cross-border surcharge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263640" y="22219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 checkout fee on international cards originating outside Zimbabwe.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263640" y="2697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US$1,836,000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11480" y="31546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94360" y="32918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Diaspora Priority tiers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594360" y="35935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US$8.99/month for free delivery and recurring staple baskets. 15% adoption.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94360" y="4069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US$647,280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3246120" y="31546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429000" y="32918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 Retail media network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3429000" y="35935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FMCG brands bid for sponsored placement in front of high-spend diaspora buyers.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3429000" y="4069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US$734,400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080760" y="31546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263640" y="333756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ECOSYSTEM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263640" y="36118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US$17,149,680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263640" y="40233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margin &amp; platform fees captured on US$61.2M GMV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04 · REVENUE BREAKDOWN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Projected total ecosystem annual revenue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411480" y="14813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US$17,149,680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411480" y="20116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retail margins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11480" y="22311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gross retail margin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291840" y="210312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91840" y="210312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06640" y="208483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US$12,852,000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11480" y="25146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Last-mile delivery share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11480" y="273405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US$1.50 net per drop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291840" y="260604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91840" y="2606040"/>
            <a:ext cx="334255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06640" y="258775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US$1,080,000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11480" y="30175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tech surcharge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11480" y="323697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 on international cards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3291840" y="310896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291840" y="3108960"/>
            <a:ext cx="568234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406640" y="309067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US$1,836,000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411480" y="35204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Priority subscriptions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411480" y="373989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6,000 subscribers @ US$8.99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291840" y="361188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291840" y="3611880"/>
            <a:ext cx="320040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406640" y="359359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US$647,280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411480" y="40233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Supplier-funded retail media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411480" y="424281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1.2% of platform GMV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3291840" y="411480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291840" y="4114800"/>
            <a:ext cx="320040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406640" y="409651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US$734,400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ARCHITECTURE · GMV VS REVENUE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Distinction: GMV vs. Ecosystem Revenue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6217920" y="896112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0" y="89611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Breakdown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11480" y="1600200"/>
            <a:ext cx="2651760" cy="31546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F7CBD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6072" y="1737360"/>
            <a:ext cx="2322576" cy="25603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6072" y="1737360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FLOW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576072" y="2057400"/>
            <a:ext cx="2322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Gross Merchandise Value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76072" y="2331720"/>
            <a:ext cx="2322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US$61,200,000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576072" y="2724912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GROCERY BASKET SPEND THROUGHPUT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576072" y="292608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40,000 diaspora shoppers × 1.5 orders/mo × US$85 avg basket × 12 months. This is the total cash transacted at checkout.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548640" y="3566160"/>
            <a:ext cx="2377440" cy="1051560"/>
          </a:xfrm>
          <a:prstGeom prst="roundRect">
            <a:avLst>
              <a:gd name="adj" fmla="val 5217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2648" y="36118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Represents migrated spend currently captured by South African cash-and-carries and informal Malayitsha vans.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3246120" y="1600200"/>
            <a:ext cx="2651760" cy="31546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C6D3E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410712" y="1737360"/>
            <a:ext cx="2322576" cy="256032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410712" y="1737360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CAPTURE (~28%)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3410712" y="2057400"/>
            <a:ext cx="2322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 Ecosystem Revenue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3410712" y="2331720"/>
            <a:ext cx="2322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US$17,149,680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3410712" y="2724912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CAPTURED EARNINGS ON $61.2M GMV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3410712" y="292608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value captured on that basket volume across 5 stacked streams: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3383280" y="3566160"/>
            <a:ext cx="2377440" cy="1051560"/>
          </a:xfrm>
          <a:prstGeom prst="roundRect">
            <a:avLst>
              <a:gd name="adj" fmla="val 5217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447288" y="36118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21% Retail Margin (US$12.85M)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3% Card Surcharge (US$1.84M)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Last-Mile Delivery Share (US$1.08M)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Retail Media Network (US$734k)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Diaspora Priority Memberships (US$647k)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6080760" y="1600200"/>
            <a:ext cx="2651760" cy="3154680"/>
          </a:xfrm>
          <a:prstGeom prst="roundRect">
            <a:avLst>
              <a:gd name="adj" fmla="val 2759"/>
            </a:avLst>
          </a:prstGeom>
          <a:solidFill>
            <a:srgbClr val="F0F4FA"/>
          </a:solidFill>
          <a:ln w="12700">
            <a:solidFill>
              <a:srgbClr val="335C9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245352" y="1737360"/>
            <a:ext cx="2322576" cy="256032"/>
          </a:xfrm>
          <a:prstGeom prst="roundRect">
            <a:avLst>
              <a:gd name="adj" fmla="val 50000"/>
            </a:avLst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245352" y="1737360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PLATFORM STEADY STATE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245352" y="2057400"/>
            <a:ext cx="2322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2 Ecosystem Revenue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6245352" y="2331720"/>
            <a:ext cx="2322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4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US$21,841,380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6245352" y="2724912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CAPTURE + B2B/B2C SUBSCRIPTIONS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6245352" y="292608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Retail Capture ($17.15M) + Phase 2 Recurring Subscription Layer ($4.69M):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6217920" y="3566160"/>
            <a:ext cx="2377440" cy="1051560"/>
          </a:xfrm>
          <a:prstGeom prst="roundRect">
            <a:avLst>
              <a:gd name="adj" fmla="val 5217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281928" y="36118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240 Tenant Software Licences ($717k)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900 Scooter Rider Fleet Plans ($486k)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900 Garage &amp; Maintenance Plans ($194k)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40 Market Data Licences ($720k)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45,000 Shopper Memberships ($2.15M)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3,500 Tuck-Shop Apps ($420k)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 · BUSINESS MODEL OPTIONS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Aligning risk, capital and structure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00200"/>
            <a:ext cx="40233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12648" y="173736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12648" y="17373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1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691640" y="170078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Concierge (Reseller)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12648" y="2057400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operate as a standalone entity mirroring your catalog via API. Senders pay us in US$; we buy stock from TM PnP at a negotiated wholesale discount and fulfill with our own driver network.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12648" y="288036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FEE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612648" y="303580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US$100,000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423160" y="288036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SPLIT / TAKE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2423160" y="30358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5–8% markup + 3–5% rebate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709160" y="1600200"/>
            <a:ext cx="40233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10328" y="173736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10328" y="17373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2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989320" y="170078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White-Label Software Licensing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910328" y="2057400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build the cross-border storefront extension and license it to TM PnP. It integrates into tmpnponline.co.zw, natively branded, fulfilled by third-party Zimbabwean couriers.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4910328" y="288036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FEE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4910328" y="303580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US$75,000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20840" y="288036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SPLIT / TAKE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720840" y="30358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1.5–2% GMV revenue share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11480" y="3703320"/>
            <a:ext cx="8321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703320"/>
            <a:ext cx="832104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06 · CONFIGURATION MATRIX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Commercial model comparison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783080"/>
          <a:ext cx="83210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Metric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1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Option 1 · Independent Concierge (Reseller)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1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Option 2 · White-Label Software Licensing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10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Upfront capital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US$100,000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US$75,000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Operational effort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Extremely 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market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3–4 months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4–5 months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revenue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markups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Licensing fees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PnP risk tier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risk (Turnkey operator)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 buyer &amp; owner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07 · CRITICAL INTEGRATIONS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beyond the current platform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411480" y="1572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new components layer over the existing web framework.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11480" y="196596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94360" y="213055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2240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Geo-fenced marketing core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94360" y="2798064"/>
            <a:ext cx="228600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Hyper-targeted social and digital advertising aimed at high-density Zimbabwean pockets — Hillbrow and Randburg in South Africa, London and Leeds in the UK.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46120" y="196596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29000" y="213055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29000" y="2240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logistics middleware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429000" y="2798064"/>
            <a:ext cx="228600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dispatch interface linking the TM PnP back-end to localized courier networks and on-demand e-bike fleets for route optimisation and proof of delivery.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080760" y="196596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63640" y="213055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63640" y="2240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substitution logic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263640" y="2798064"/>
            <a:ext cx="228600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automated WhatsApp bot lets the sender or recipient approve alternatives instantly when an item goes out of stock during picking.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 · BENEFITS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Benefits to TM Pick n Pay and the market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27632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6072" y="1773936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171907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Faster market entry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77240" y="193852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developer integrations accelerate rollout.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00984" y="1627632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65576" y="1773936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66744" y="171907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convenience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3666744" y="193852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shift lets diaspora and local customers buy from anywhere.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190488" y="1627632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355080" y="1773936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56248" y="171907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Expanded customer base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556248" y="193852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markets plus multiple banks' captured audiences.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411480" y="2377440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76072" y="2523744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77240" y="246888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Replacement of informal trading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777240" y="268833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legitimate, tax-compliant alternative to unreliable channels.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3300984" y="2377440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465576" y="2523744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666744" y="246888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Cross-border resilience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3666744" y="268833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Bypasses constraints on physical goods movement between countries.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190488" y="2377440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355080" y="2523744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556248" y="246888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Economies of scale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556248" y="268833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prices and smaller packages matched to consumer cash flow.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11480" y="3127248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76072" y="3273552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77240" y="3218688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Increased loyalty &amp; retention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777240" y="343814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Secure, reliable delivery builds trust vs informal traders.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3300984" y="3127248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465576" y="3273552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666744" y="3218688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diversification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3666744" y="343814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Subscriptions, fees or discounts plus wholesale partnerships.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6190488" y="3127248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355080" y="3273552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556248" y="3218688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Scalability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6556248" y="343814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expansion with packaging adapted to local needs.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411480" y="3877056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76072" y="4023360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77240" y="3968496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Convenience-driven adoption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777240" y="418795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daily-use packages fit township and village habits.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3300984" y="3877056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465576" y="4023360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3666744" y="3968496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Government alignment</a:t>
            </a:r>
            <a:endParaRPr lang="en-US" sz="1050" dirty="0"/>
          </a:p>
        </p:txBody>
      </p:sp>
      <p:sp>
        <p:nvSpPr>
          <p:cNvPr id="52" name="Text 49"/>
          <p:cNvSpPr/>
          <p:nvPr/>
        </p:nvSpPr>
        <p:spPr>
          <a:xfrm>
            <a:off x="3666744" y="418795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Formalized trade supports taxation and regulation.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14 · WHY NOW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market intelligence driven model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94360" y="185623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4360" y="1965960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Brick-and-mortar is no longer defensible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94360" y="2523744"/>
            <a:ext cx="3675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Footfall retail cannot hold share on its own. The defensible asset is the customer relationship, not the store estate.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690872" y="169164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873752" y="185623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73752" y="1965960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Buyers are price-led, not brand-led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873752" y="2523744"/>
            <a:ext cx="3675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shop the cheapest basket available on the day. Informal channels are winning that comparison by default.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94360" y="309067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3200400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Malayitsha channel is being constricted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94360" y="3758184"/>
            <a:ext cx="3675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One-stop border posts, electronic travel authority and tighter vehicle declarations are squeezing the informal cross-border van trade.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690872" y="292608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873752" y="309067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873752" y="3200400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opening left behind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873752" y="3758184"/>
            <a:ext cx="3675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funding + bank rails + owned delivery + wholesale into the informal channel — a brand that lives in people's homes.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15 · DOWNSTREAM INNOVATION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end state is a trading platform, not a single-retailer app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12648" y="184708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12648" y="18470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Entry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12648" y="2212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TM Pick n Pay value-add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12648" y="2596896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Single-tenant. TM branded, TM catalogue, TM fulfilment. The platform earns its place inside one retailer before anything else is discussed.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246120" y="16916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47288" y="184708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47288" y="18470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Depth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447288" y="2212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Wholesale and informal channel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447288" y="2596896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supplies tuck shops and repackagers through the same rails. Volume grows without adding a competing banner to the storefront.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080760" y="16916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281928" y="184708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81928" y="18470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End state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281928" y="2212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Retail-agnostic trading platform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281928" y="2596896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asks for cooking oil; the request goes to every participating supplier and the best price wins. Retailers become suppliers on a marketplace.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11480" y="3703320"/>
            <a:ext cx="4069080" cy="960120"/>
          </a:xfrm>
          <a:prstGeom prst="roundRect">
            <a:avLst>
              <a:gd name="adj" fmla="val 7619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1792" y="370332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has already been prototyped — three banners running in one app — then deliberately pulled back to a single tenant for the entry conversation.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4663440" y="3703320"/>
            <a:ext cx="4069080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873752" y="370332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is the safeguard: introduce the platform as a TM advantage, without signalling that competitors sit on the same rails on day one.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16 · PRICE COMPARISON ENGINE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Item-level price comparison is the reason to participate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457200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84708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REQUEST · “COOKING OIL”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40080" y="2194560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58568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A · 2L cooking oil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2960" y="24688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price · 2.1km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3520440" y="2194560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US$3.10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40080" y="2798064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2862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B · 2L cooking oil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2960" y="307238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slot · 0.8km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3520440" y="2798064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US$3.45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40080" y="3401568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46557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C · 2L cooking oil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22960" y="367588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offer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3520440" y="3401568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US$3.60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40080" y="4005072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2960" y="406908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Tuck shop · 500ml repack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22960" y="427939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fulfilment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3520440" y="4005072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US$0.95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66360" y="169164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349240" y="185623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349240" y="1965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Comparison across every participating supplier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5349240" y="2523744"/>
            <a:ext cx="32004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request fans out to all listed suppliers. The shopper sees price, distance and slot side by side and picks. Price competition, not shelf position, decides the sale.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166360" y="324612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349240" y="34107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349240" y="3520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ranking of most-tradable items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5349240" y="4078224"/>
            <a:ext cx="32004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ranks demand by item, area and week — a what-to-stock signal feeding order-to-cash: buy the right depth, in the right pack size, before the demand lands.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22 · PAYMENT RAILS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Bank-agnostic by design, multi-bank in practice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406908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1856232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say to banks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94360" y="2221992"/>
            <a:ext cx="370332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your remittance APIs into the platform and we bring transaction share-of-wallet: recurring diaspora flows landing as retail settlement rather than cash-out.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exclusivity is requested and none is given. Every rail is one integration among several, so pricing stays competitive and no single institution gates the platform.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663440" y="1691640"/>
            <a:ext cx="406908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46320" y="1856232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say to the retailer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846320" y="2221992"/>
            <a:ext cx="370332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bring critical mass. Their diaspora bases are already captured audiences; the platform converts those balances into baskets inside your estate.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Institutions under discussion are prospects at this stage. Nothing is presented in-app as a confirmed partnership until an agreement is signed.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11480" y="3977640"/>
            <a:ext cx="8321040" cy="658368"/>
          </a:xfrm>
          <a:prstGeom prst="roundRect">
            <a:avLst>
              <a:gd name="adj" fmla="val 11111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397764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rule: no bank-specific logic in the core. Rails are adapters, so adding or dropping an institution is a configuration change, never a rebuild.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20 · OWNED DELIVERY NETWORK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last mile is owned, not outsourced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500–2,000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94360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Platform-owned electric scooters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523744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706624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months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2706624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Rent-to-buy, then the rider owns it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636008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18888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~5 months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4818888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pays itself back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748272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31152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~10%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931152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fee per dollar earned after ownership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11480" y="2743200"/>
            <a:ext cx="2651760" cy="1965960"/>
          </a:xfrm>
          <a:prstGeom prst="roundRect">
            <a:avLst>
              <a:gd name="adj" fmla="val 3721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4360" y="29077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Rent-to-buy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594360" y="3273552"/>
            <a:ext cx="228600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rider operates for twelve months and then owns the scooter. The asset repays itself in roughly five months; months six to twelve are margin.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246120" y="2743200"/>
            <a:ext cx="2651760" cy="1965960"/>
          </a:xfrm>
          <a:prstGeom prst="roundRect">
            <a:avLst>
              <a:gd name="adj" fmla="val 3721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429000" y="29077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Advertising rights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3429000" y="3273552"/>
            <a:ext cx="228600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Livery is sold on subscription: 80% reserved for the anchor retailer, 20% open inventory. A moving media network across every delivery route.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080760" y="2743200"/>
            <a:ext cx="2651760" cy="1965960"/>
          </a:xfrm>
          <a:prstGeom prst="roundRect">
            <a:avLst>
              <a:gd name="adj" fmla="val 3721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263640" y="29077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 the garage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6263640" y="3273552"/>
            <a:ext cx="228600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Repairs, parts and accessories stay inside the platform on a maintenance plan. Electric tricycles extend the fleet into rural routes, with women riders as the first cohort.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21 · LOYALTY &amp; DEVICE MIGRATION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Trade US$100 a month for five months — earn the handset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148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10312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10312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24028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379476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79476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93192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48640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62356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17804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17804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31520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5G-lite smartphone awarded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11480" y="278892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94360" y="2953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94360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Discovery-Vitality mechanics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594360" y="3621024"/>
            <a:ext cx="22860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Consecutive qualifying months unlock the reward. Behaviour is earned, not bought, and the tier resets if trading lapses.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3246120" y="278892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429000" y="2953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429000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Family basket sharing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3429000" y="3621024"/>
            <a:ext cx="22860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household members contribute to one qualifying basket, so families reach the threshold faster and consolidate spend on the platform.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6080760" y="278892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263640" y="2953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263640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real purpose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6263640" y="3621024"/>
            <a:ext cx="22860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~US$50 landed handset with the markup absorbed migrates 2G and 3G users onto the platform. Device cost is customer acquisition, booked as such.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23 · WHOLESALE &amp; INFORMAL CHANNEL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Tuck shops become distribution extensions, not competitors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1929384" cy="1143000"/>
          </a:xfrm>
          <a:prstGeom prst="roundRect">
            <a:avLst>
              <a:gd name="adj" fmla="val 64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180136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94360" y="198424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Aggregate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94360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orders in a suburb are pooled in the app rather than fragmented across trips.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523744" y="1691640"/>
            <a:ext cx="192938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706624" y="180136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2706624" y="198424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Fulfil locally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706624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nearest tuck shop picks and hands over, cutting distance, fuel and delivery cost.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636008" y="1691640"/>
            <a:ext cx="1929384" cy="1143000"/>
          </a:xfrm>
          <a:prstGeom prst="roundRect">
            <a:avLst>
              <a:gd name="adj" fmla="val 64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818888" y="180136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818888" y="198424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Repackage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818888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stock is broken into the 200g-type pack sizes the market actually buys.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748272" y="1691640"/>
            <a:ext cx="192938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31152" y="180136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6931152" y="198424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Supply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31152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retailer sells bulk into the channel as a wholesaler and keeps the volume.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11480" y="2971800"/>
            <a:ext cx="40690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94360" y="313639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94360" y="324612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Pack size is the unlock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594360" y="3803904"/>
            <a:ext cx="3703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buy 200g, not 2kg. The retailer sells bulk to the tuck shop, the tuck shop repackages to the price point the street can afford — the small-multipack playbook proven by packaged brands expanding regionally.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663440" y="2971800"/>
            <a:ext cx="40690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846320" y="313639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846320" y="324612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government argument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4846320" y="3803904"/>
            <a:ext cx="3703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informal trade through the platform makes it visible: tax is captured, stock is traceable and counterfeit product is squeezed out. Legitimisation, not enforcement.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A50C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SUBSCRIPTION MODEL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Anything that allows a subscription is the model. The rest is not sustainable.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18562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Rider fees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94360" y="222199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Scooter rent-to-buy instalments, then a standing platform fee per dollar earned.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46120" y="169164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429000" y="18562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Advertising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3429000" y="222199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Scooter livery, in-app placement and supplier media sold as monthly inventory.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080760" y="169164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63640" y="18562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Garage services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6263640" y="222199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Servicing, parts and accessories on a maintenance plan, not a per-repair invoice.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1480" y="288036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304495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Tenant fees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594360" y="341071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retailer, wholesaler and tuck shop pays a tiered monthly platform fee.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46120" y="288036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429000" y="304495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Shopper plans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3429000" y="341071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delivery and family basket sharing on a recurring plan.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080760" y="288036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63640" y="304495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products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6263640" y="341071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and price intelligence licensed by subscription to suppliers.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411480" y="416052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line above is bent toward recurring revenue: one-off fees fund a project, recurring fees fund a company.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ECOSYSTEM REVENUE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full ecosystem: US$21,841,380 a year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389120" y="896112"/>
            <a:ext cx="4343400" cy="329184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389120" y="896112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US$61.2M Baseline GMV ($17.15M Phase 1) + US$4.69M Services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1600200"/>
            <a:ext cx="420624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17190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MODELLED TODAY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94360" y="197510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product margins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94360" y="21396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margin on migrated basket · Transactional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3154680" y="199339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US$12,852,000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94360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Last-mile delivery share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94360" y="254203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US$1.50 net per drop · Transactional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3154680" y="2395728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US$1,080,000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94360" y="277977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surcharge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94360" y="294436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 on international cards · Transactional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3154680" y="27980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US$1,836,000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94360" y="318211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Priority plans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94360" y="3346704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6,000 subscribers @ US$8.99 · Recurring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3154680" y="3200400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US$647,280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594360" y="358444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media network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" y="37490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1.2% of platform GMV · Semi-recurring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3154680" y="360273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US$734,400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94360" y="4023360"/>
            <a:ext cx="3840480" cy="9144"/>
          </a:xfrm>
          <a:prstGeom prst="rect">
            <a:avLst/>
          </a:prstGeom>
          <a:solidFill>
            <a:srgbClr val="E2E5EB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4360" y="40965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ecosystem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2743200" y="407822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US$17,149,680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4754880" y="1600200"/>
            <a:ext cx="3977640" cy="2834640"/>
          </a:xfrm>
          <a:prstGeom prst="roundRect">
            <a:avLst>
              <a:gd name="adj" fmla="val 2581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937760" y="1719072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SUBSCRIPTION LAYER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4937760" y="1956816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platform fees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4937760" y="2103120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 tenants @ US$249 pm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7223760" y="197510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US$717,120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4937760" y="229514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 plans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4937760" y="2441448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 riders @ US$45 pm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7223760" y="2313432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US$486,000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4937760" y="263347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Garage &amp; maintenance plans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4937760" y="2779776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 units @ US$18 pm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7223760" y="265176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US$194,400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4937760" y="297180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price intelligence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4937760" y="3118104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licences @ US$1,500 pm</a:t>
            </a:r>
            <a:endParaRPr lang="en-US" sz="750" dirty="0"/>
          </a:p>
        </p:txBody>
      </p:sp>
      <p:sp>
        <p:nvSpPr>
          <p:cNvPr id="44" name="Text 41"/>
          <p:cNvSpPr/>
          <p:nvPr/>
        </p:nvSpPr>
        <p:spPr>
          <a:xfrm>
            <a:off x="7223760" y="299008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US$720,000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4937760" y="331012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plans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4937760" y="3456432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45,000 households @ US$3.99 pm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7223760" y="3328416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US$2,154,600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4937760" y="3648456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Tuck-shop trading app</a:t>
            </a:r>
            <a:endParaRPr lang="en-US" sz="950" dirty="0"/>
          </a:p>
        </p:txBody>
      </p:sp>
      <p:sp>
        <p:nvSpPr>
          <p:cNvPr id="49" name="Text 46"/>
          <p:cNvSpPr/>
          <p:nvPr/>
        </p:nvSpPr>
        <p:spPr>
          <a:xfrm>
            <a:off x="4937760" y="3794760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3,500 shops @ US$9.99 pm</a:t>
            </a:r>
            <a:endParaRPr lang="en-US" sz="750" dirty="0"/>
          </a:p>
        </p:txBody>
      </p:sp>
      <p:sp>
        <p:nvSpPr>
          <p:cNvPr id="50" name="Text 47"/>
          <p:cNvSpPr/>
          <p:nvPr/>
        </p:nvSpPr>
        <p:spPr>
          <a:xfrm>
            <a:off x="7223760" y="366674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US$419,580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4937760" y="4023360"/>
            <a:ext cx="3611880" cy="9144"/>
          </a:xfrm>
          <a:prstGeom prst="rect">
            <a:avLst/>
          </a:prstGeom>
          <a:solidFill>
            <a:srgbClr val="335C94"/>
          </a:solidFill>
          <a:ln w="12700">
            <a:solidFill>
              <a:srgbClr val="335C94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4937760" y="40965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subtotal</a:t>
            </a:r>
            <a:endParaRPr lang="en-US" sz="1050" dirty="0"/>
          </a:p>
        </p:txBody>
      </p:sp>
      <p:sp>
        <p:nvSpPr>
          <p:cNvPr id="53" name="Text 50"/>
          <p:cNvSpPr/>
          <p:nvPr/>
        </p:nvSpPr>
        <p:spPr>
          <a:xfrm>
            <a:off x="7040880" y="407822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US$4,691,700</a:t>
            </a:r>
            <a:endParaRPr lang="en-US" sz="1250" dirty="0"/>
          </a:p>
        </p:txBody>
      </p:sp>
      <p:sp>
        <p:nvSpPr>
          <p:cNvPr id="54" name="Shape 51"/>
          <p:cNvSpPr/>
          <p:nvPr/>
        </p:nvSpPr>
        <p:spPr>
          <a:xfrm>
            <a:off x="411480" y="4526280"/>
            <a:ext cx="8321040" cy="411480"/>
          </a:xfrm>
          <a:prstGeom prst="roundRect">
            <a:avLst>
              <a:gd name="adj" fmla="val 17778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685800" y="45262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annual ecosystem revenue at steady state</a:t>
            </a:r>
            <a:endParaRPr lang="en-US" sz="1100" dirty="0"/>
          </a:p>
        </p:txBody>
      </p:sp>
      <p:sp>
        <p:nvSpPr>
          <p:cNvPr id="56" name="Text 53"/>
          <p:cNvSpPr/>
          <p:nvPr/>
        </p:nvSpPr>
        <p:spPr>
          <a:xfrm>
            <a:off x="6172200" y="4526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US$21,841,380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REVENUE MIX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transaction-led to subscription-led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265176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828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· US$17.1M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40080" y="20848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Door-to-door on TMPNP stock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2651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margin, delivery share and the cross-border surcharge carry the model. One recurring line: Diaspora Priority at US$647,280 — 4% of revenue.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246120" y="1691640"/>
            <a:ext cx="265176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74720" y="1828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· +US$1.4M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3474720" y="20848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Second and third retailers onboard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474720" y="2651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fees (US$717,120), rider plans (US$486,000) and garage cover (US$194,400) start billing monthly, whatever the basket does.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080760" y="1691640"/>
            <a:ext cx="265176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09360" y="1828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AGNOSTIC · US$21.8M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309360" y="20848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Marketplace of retailers and tuck shops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309360" y="2651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plans, tuck-shop apps and data licences add US$3.29M. Recurring revenue reaches US$5,338,980 — 24% of the ecosystem.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11480" y="3977640"/>
            <a:ext cx="8321040" cy="594360"/>
          </a:xfrm>
          <a:prstGeom prst="roundRect">
            <a:avLst>
              <a:gd name="adj" fmla="val 12308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85800" y="40690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ecosystem, valued differently: transaction fees fund a project, recurring fees fund a company.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24 · COMMERCIAL &amp; ENTITY STRUCTURE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 commercial model, two-country structure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18562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White-label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94360" y="2221992"/>
            <a:ext cx="2286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storefront and app ship under the retailer's brand, licensed rather than sold.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46120" y="16916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429000" y="18562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Subscription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3429000" y="2221992"/>
            <a:ext cx="2286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monthly platform fees per tenant, opening at a 100,000-participant tier.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080760" y="16916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63640" y="18562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Commission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6263640" y="2221992"/>
            <a:ext cx="2286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transaction share on GMV, sitting on top of the recurring base.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1480" y="2971800"/>
            <a:ext cx="4069080" cy="1188720"/>
          </a:xfrm>
          <a:prstGeom prst="roundRect">
            <a:avLst>
              <a:gd name="adj" fmla="val 615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3136392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South African company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594360" y="350215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platform IP and raises capital where liquidity and investor access are deepest. Contracts with tenants and banks sit here.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663440" y="2971800"/>
            <a:ext cx="4069080" cy="1188720"/>
          </a:xfrm>
          <a:prstGeom prst="roundRect">
            <a:avLst>
              <a:gd name="adj" fmla="val 615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846320" y="3136392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Zimbabwean subsidiary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846320" y="350215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logistics, the scooter fleet and local agreements on the ground, with local employment and local regulatory standing.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411480" y="4279392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as at 13 August — structure to be confirmed with tax and legal counsel before any binding term sheet.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0" y="502920"/>
            <a:ext cx="14630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594360"/>
            <a:ext cx="1280160" cy="1051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92024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Turn 74+ branches into a door-to-door fulfilment network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023360" y="2971800"/>
            <a:ext cx="1097280" cy="7315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463040" y="3291840"/>
            <a:ext cx="6217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next step: select a commercial structure and mandate a 60-day pilot on two flagship Harare branches.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11480" y="46863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074920" y="46863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2026-08-19T17:57:04Z</dcterms:created>
  <dcterms:modified xsi:type="dcterms:W3CDTF">2026-08-19T17:57:04Z</dcterms:modified>
</cp:coreProperties>
</file>